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66" r:id="rId4"/>
    <p:sldId id="258" r:id="rId5"/>
    <p:sldId id="259" r:id="rId6"/>
    <p:sldId id="260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embeddedFontLst>
    <p:embeddedFont>
      <p:font typeface="Google Sans" panose="020B0604020202020204" charset="0"/>
      <p:regular r:id="rId13"/>
      <p:bold r:id="rId14"/>
      <p:italic r:id="rId15"/>
      <p:boldItalic r:id="rId16"/>
    </p:embeddedFont>
    <p:embeddedFont>
      <p:font typeface="Google Sans Medium" panose="020B0604020202020204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A897B03-562E-43C7-999C-747ED4AE98B7}">
  <a:tblStyle styleId="{1A897B03-562E-43C7-999C-747ED4AE98B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08" y="141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D6257DA-824F-4C65-91A1-4D567AAE8E69}" type="doc">
      <dgm:prSet loTypeId="urn:microsoft.com/office/officeart/2005/8/layout/StepDown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AF19C520-5407-428A-949F-6CC2698DBBC4}">
      <dgm:prSet phldrT="[Text]"/>
      <dgm:spPr/>
      <dgm:t>
        <a:bodyPr/>
        <a:lstStyle/>
        <a:p>
          <a:pPr>
            <a:buNone/>
          </a:pPr>
          <a:r>
            <a:rPr lang="en-IN" dirty="0"/>
            <a:t>Low Resolution /</a:t>
          </a:r>
          <a:br>
            <a:rPr lang="en-IN" dirty="0"/>
          </a:br>
          <a:r>
            <a:rPr lang="en-IN" dirty="0"/>
            <a:t>Grayscale Satellite Image</a:t>
          </a:r>
        </a:p>
      </dgm:t>
    </dgm:pt>
    <dgm:pt modelId="{A8ED0850-07FC-46DD-AF83-381BFD51BF10}" type="parTrans" cxnId="{2F3A60C6-8663-459C-AD23-A895DC7A4631}">
      <dgm:prSet/>
      <dgm:spPr/>
      <dgm:t>
        <a:bodyPr/>
        <a:lstStyle/>
        <a:p>
          <a:endParaRPr lang="en-IN"/>
        </a:p>
      </dgm:t>
    </dgm:pt>
    <dgm:pt modelId="{87F33662-0E9E-43F9-B772-0BE1898FDA75}" type="sibTrans" cxnId="{2F3A60C6-8663-459C-AD23-A895DC7A4631}">
      <dgm:prSet/>
      <dgm:spPr/>
      <dgm:t>
        <a:bodyPr/>
        <a:lstStyle/>
        <a:p>
          <a:endParaRPr lang="en-IN"/>
        </a:p>
      </dgm:t>
    </dgm:pt>
    <dgm:pt modelId="{01E118C8-2BCA-43C4-8ADE-844EAF65DDFB}">
      <dgm:prSet phldrT="[Text]" phldr="1"/>
      <dgm:spPr/>
      <dgm:t>
        <a:bodyPr/>
        <a:lstStyle/>
        <a:p>
          <a:endParaRPr lang="en-IN" dirty="0"/>
        </a:p>
      </dgm:t>
    </dgm:pt>
    <dgm:pt modelId="{6A4DAB92-95C6-401E-A46B-9566A2A9F4AB}" type="parTrans" cxnId="{446B411D-4A40-4767-9AA6-1574C538C651}">
      <dgm:prSet/>
      <dgm:spPr/>
      <dgm:t>
        <a:bodyPr/>
        <a:lstStyle/>
        <a:p>
          <a:endParaRPr lang="en-IN"/>
        </a:p>
      </dgm:t>
    </dgm:pt>
    <dgm:pt modelId="{006DCB33-E759-4793-9749-F0B43C6B236D}" type="sibTrans" cxnId="{446B411D-4A40-4767-9AA6-1574C538C651}">
      <dgm:prSet/>
      <dgm:spPr/>
      <dgm:t>
        <a:bodyPr/>
        <a:lstStyle/>
        <a:p>
          <a:endParaRPr lang="en-IN"/>
        </a:p>
      </dgm:t>
    </dgm:pt>
    <dgm:pt modelId="{67BEEA4D-772F-4D82-B947-B99723A60B45}">
      <dgm:prSet phldrT="[Text]"/>
      <dgm:spPr/>
      <dgm:t>
        <a:bodyPr/>
        <a:lstStyle/>
        <a:p>
          <a:pPr>
            <a:buNone/>
          </a:pPr>
          <a:r>
            <a:rPr lang="en-IN" dirty="0"/>
            <a:t>Image Preprocessing</a:t>
          </a:r>
        </a:p>
        <a:p>
          <a:pPr>
            <a:buNone/>
          </a:pPr>
          <a:r>
            <a:rPr lang="en-IN" dirty="0"/>
            <a:t>Deep Learning Model</a:t>
          </a:r>
        </a:p>
      </dgm:t>
    </dgm:pt>
    <dgm:pt modelId="{A25016EA-6BC5-45BC-92FA-66319DA8EF89}" type="parTrans" cxnId="{B89E6CC0-BA0D-4512-923F-29E76126B3F5}">
      <dgm:prSet/>
      <dgm:spPr/>
      <dgm:t>
        <a:bodyPr/>
        <a:lstStyle/>
        <a:p>
          <a:endParaRPr lang="en-IN"/>
        </a:p>
      </dgm:t>
    </dgm:pt>
    <dgm:pt modelId="{E69C932D-403A-4669-ACA0-196FF40288A4}" type="sibTrans" cxnId="{B89E6CC0-BA0D-4512-923F-29E76126B3F5}">
      <dgm:prSet/>
      <dgm:spPr/>
      <dgm:t>
        <a:bodyPr/>
        <a:lstStyle/>
        <a:p>
          <a:endParaRPr lang="en-IN"/>
        </a:p>
      </dgm:t>
    </dgm:pt>
    <dgm:pt modelId="{61CEBB44-DB18-4313-A702-2708084DB83D}">
      <dgm:prSet phldrT="[Text]"/>
      <dgm:spPr/>
      <dgm:t>
        <a:bodyPr/>
        <a:lstStyle/>
        <a:p>
          <a:pPr>
            <a:buNone/>
          </a:pPr>
          <a:r>
            <a:rPr lang="en-IN" dirty="0"/>
            <a:t>Post Processing</a:t>
          </a:r>
        </a:p>
      </dgm:t>
    </dgm:pt>
    <dgm:pt modelId="{11AB8712-302A-4C21-AB23-02902A4A193F}" type="parTrans" cxnId="{E7577DDD-CB46-497C-AC1D-FA05A9B357B5}">
      <dgm:prSet/>
      <dgm:spPr/>
      <dgm:t>
        <a:bodyPr/>
        <a:lstStyle/>
        <a:p>
          <a:endParaRPr lang="en-IN"/>
        </a:p>
      </dgm:t>
    </dgm:pt>
    <dgm:pt modelId="{C3A50EB6-ADD1-41F9-B2BD-C4DFFD2AE461}" type="sibTrans" cxnId="{E7577DDD-CB46-497C-AC1D-FA05A9B357B5}">
      <dgm:prSet/>
      <dgm:spPr/>
      <dgm:t>
        <a:bodyPr/>
        <a:lstStyle/>
        <a:p>
          <a:endParaRPr lang="en-IN"/>
        </a:p>
      </dgm:t>
    </dgm:pt>
    <dgm:pt modelId="{D8A6BE86-B6CE-4EF4-8F0A-A735C67FA137}">
      <dgm:prSet phldrT="[Text]"/>
      <dgm:spPr/>
      <dgm:t>
        <a:bodyPr/>
        <a:lstStyle/>
        <a:p>
          <a:pPr>
            <a:buNone/>
          </a:pPr>
          <a:r>
            <a:rPr lang="en-IN" dirty="0"/>
            <a:t>Super Resolution</a:t>
          </a:r>
        </a:p>
      </dgm:t>
    </dgm:pt>
    <dgm:pt modelId="{72C46E0E-D1B5-413F-9877-CD98BC7C3F3F}" type="parTrans" cxnId="{F4B8FCD7-8EA5-489D-87E0-E0AED47F34C8}">
      <dgm:prSet/>
      <dgm:spPr/>
      <dgm:t>
        <a:bodyPr/>
        <a:lstStyle/>
        <a:p>
          <a:endParaRPr lang="en-IN"/>
        </a:p>
      </dgm:t>
    </dgm:pt>
    <dgm:pt modelId="{80E069FB-5456-4272-B832-0DACA84CBF78}" type="sibTrans" cxnId="{F4B8FCD7-8EA5-489D-87E0-E0AED47F34C8}">
      <dgm:prSet/>
      <dgm:spPr/>
      <dgm:t>
        <a:bodyPr/>
        <a:lstStyle/>
        <a:p>
          <a:endParaRPr lang="en-IN"/>
        </a:p>
      </dgm:t>
    </dgm:pt>
    <dgm:pt modelId="{5FD350C7-7FDF-4EEB-894E-55742297AA2A}">
      <dgm:prSet phldrT="[Text]"/>
      <dgm:spPr/>
      <dgm:t>
        <a:bodyPr/>
        <a:lstStyle/>
        <a:p>
          <a:pPr>
            <a:buNone/>
          </a:pPr>
          <a:r>
            <a:rPr lang="en-IN" dirty="0"/>
            <a:t>Colorization Network</a:t>
          </a:r>
        </a:p>
      </dgm:t>
    </dgm:pt>
    <dgm:pt modelId="{E9A8EB7D-71E4-4542-B7FE-6C77216C4D61}" type="parTrans" cxnId="{004AFBF7-5106-4FB8-8DA7-DBD7196C7E21}">
      <dgm:prSet/>
      <dgm:spPr/>
      <dgm:t>
        <a:bodyPr/>
        <a:lstStyle/>
        <a:p>
          <a:endParaRPr lang="en-IN"/>
        </a:p>
      </dgm:t>
    </dgm:pt>
    <dgm:pt modelId="{906BC5DC-85C5-4FCF-A969-DE4A27D04968}" type="sibTrans" cxnId="{004AFBF7-5106-4FB8-8DA7-DBD7196C7E21}">
      <dgm:prSet/>
      <dgm:spPr/>
      <dgm:t>
        <a:bodyPr/>
        <a:lstStyle/>
        <a:p>
          <a:endParaRPr lang="en-IN"/>
        </a:p>
      </dgm:t>
    </dgm:pt>
    <dgm:pt modelId="{4201228E-A9D9-489F-92B4-E2D06159CEA7}">
      <dgm:prSet phldrT="[Text]"/>
      <dgm:spPr/>
      <dgm:t>
        <a:bodyPr/>
        <a:lstStyle/>
        <a:p>
          <a:pPr>
            <a:buNone/>
          </a:pPr>
          <a:r>
            <a:rPr lang="en-IN" dirty="0"/>
            <a:t>Enhanced High Resolution</a:t>
          </a:r>
          <a:br>
            <a:rPr lang="en-IN" dirty="0"/>
          </a:br>
          <a:r>
            <a:rPr lang="en-IN" dirty="0" err="1"/>
            <a:t>Color</a:t>
          </a:r>
          <a:r>
            <a:rPr lang="en-IN" dirty="0"/>
            <a:t> Satellite Image</a:t>
          </a:r>
        </a:p>
      </dgm:t>
    </dgm:pt>
    <dgm:pt modelId="{5BB678E7-39BB-43E6-8ADC-60B37F38825B}" type="sibTrans" cxnId="{A2F2B9F1-F835-4DBD-AF79-1B924F93D9F0}">
      <dgm:prSet/>
      <dgm:spPr/>
      <dgm:t>
        <a:bodyPr/>
        <a:lstStyle/>
        <a:p>
          <a:endParaRPr lang="en-IN"/>
        </a:p>
      </dgm:t>
    </dgm:pt>
    <dgm:pt modelId="{331BC621-F1B6-4565-8A01-37F2A5E542C0}" type="parTrans" cxnId="{A2F2B9F1-F835-4DBD-AF79-1B924F93D9F0}">
      <dgm:prSet/>
      <dgm:spPr/>
      <dgm:t>
        <a:bodyPr/>
        <a:lstStyle/>
        <a:p>
          <a:endParaRPr lang="en-IN"/>
        </a:p>
      </dgm:t>
    </dgm:pt>
    <dgm:pt modelId="{32B14D6C-3ADE-4B3F-B615-1C4799A95DBE}">
      <dgm:prSet phldrT="[Text]" phldr="1"/>
      <dgm:spPr/>
      <dgm:t>
        <a:bodyPr/>
        <a:lstStyle/>
        <a:p>
          <a:endParaRPr lang="en-IN" dirty="0"/>
        </a:p>
      </dgm:t>
    </dgm:pt>
    <dgm:pt modelId="{ECB3C931-44C3-4A0F-A42F-D2093427D94D}" type="sibTrans" cxnId="{374790F1-DFD1-4A67-848A-9C6B50C9EDFC}">
      <dgm:prSet/>
      <dgm:spPr/>
      <dgm:t>
        <a:bodyPr/>
        <a:lstStyle/>
        <a:p>
          <a:endParaRPr lang="en-IN"/>
        </a:p>
      </dgm:t>
    </dgm:pt>
    <dgm:pt modelId="{9CDE0EFF-24EA-463E-898B-2B5FE86A7848}" type="parTrans" cxnId="{374790F1-DFD1-4A67-848A-9C6B50C9EDFC}">
      <dgm:prSet/>
      <dgm:spPr/>
      <dgm:t>
        <a:bodyPr/>
        <a:lstStyle/>
        <a:p>
          <a:endParaRPr lang="en-IN"/>
        </a:p>
      </dgm:t>
    </dgm:pt>
    <dgm:pt modelId="{229709ED-9E52-45F4-8916-136A86286E54}" type="pres">
      <dgm:prSet presAssocID="{5D6257DA-824F-4C65-91A1-4D567AAE8E69}" presName="rootnode" presStyleCnt="0">
        <dgm:presLayoutVars>
          <dgm:chMax/>
          <dgm:chPref/>
          <dgm:dir/>
          <dgm:animLvl val="lvl"/>
        </dgm:presLayoutVars>
      </dgm:prSet>
      <dgm:spPr/>
    </dgm:pt>
    <dgm:pt modelId="{2478C613-EE66-45B3-A3CC-5D4960F1F084}" type="pres">
      <dgm:prSet presAssocID="{AF19C520-5407-428A-949F-6CC2698DBBC4}" presName="composite" presStyleCnt="0"/>
      <dgm:spPr/>
    </dgm:pt>
    <dgm:pt modelId="{6E56AF83-E25B-43BA-AC49-AA683DDB20B8}" type="pres">
      <dgm:prSet presAssocID="{AF19C520-5407-428A-949F-6CC2698DBBC4}" presName="bentUpArrow1" presStyleLbl="alignImgPlace1" presStyleIdx="0" presStyleCnt="5"/>
      <dgm:spPr/>
    </dgm:pt>
    <dgm:pt modelId="{8B2322C4-7B1E-41C8-8381-0619C5D18E27}" type="pres">
      <dgm:prSet presAssocID="{AF19C520-5407-428A-949F-6CC2698DBBC4}" presName="ParentText" presStyleLbl="node1" presStyleIdx="0" presStyleCnt="6">
        <dgm:presLayoutVars>
          <dgm:chMax val="1"/>
          <dgm:chPref val="1"/>
          <dgm:bulletEnabled val="1"/>
        </dgm:presLayoutVars>
      </dgm:prSet>
      <dgm:spPr/>
    </dgm:pt>
    <dgm:pt modelId="{49648490-F27D-4080-844F-D92245F20EFD}" type="pres">
      <dgm:prSet presAssocID="{AF19C520-5407-428A-949F-6CC2698DBBC4}" presName="ChildText" presStyleLbl="revTx" presStyleIdx="0" presStyleCnt="6">
        <dgm:presLayoutVars>
          <dgm:chMax val="0"/>
          <dgm:chPref val="0"/>
          <dgm:bulletEnabled val="1"/>
        </dgm:presLayoutVars>
      </dgm:prSet>
      <dgm:spPr/>
    </dgm:pt>
    <dgm:pt modelId="{01A958C3-4324-466E-BAAA-87185816F8D2}" type="pres">
      <dgm:prSet presAssocID="{87F33662-0E9E-43F9-B772-0BE1898FDA75}" presName="sibTrans" presStyleCnt="0"/>
      <dgm:spPr/>
    </dgm:pt>
    <dgm:pt modelId="{A98699CA-9371-4866-B3BD-4DE0AD3C5641}" type="pres">
      <dgm:prSet presAssocID="{67BEEA4D-772F-4D82-B947-B99723A60B45}" presName="composite" presStyleCnt="0"/>
      <dgm:spPr/>
    </dgm:pt>
    <dgm:pt modelId="{D68F1C04-913F-4560-9240-598632D8AF63}" type="pres">
      <dgm:prSet presAssocID="{67BEEA4D-772F-4D82-B947-B99723A60B45}" presName="bentUpArrow1" presStyleLbl="alignImgPlace1" presStyleIdx="1" presStyleCnt="5"/>
      <dgm:spPr/>
    </dgm:pt>
    <dgm:pt modelId="{3CB3F02E-3FBE-482A-8B04-DA10A751B208}" type="pres">
      <dgm:prSet presAssocID="{67BEEA4D-772F-4D82-B947-B99723A60B45}" presName="ParentText" presStyleLbl="node1" presStyleIdx="1" presStyleCnt="6">
        <dgm:presLayoutVars>
          <dgm:chMax val="1"/>
          <dgm:chPref val="1"/>
          <dgm:bulletEnabled val="1"/>
        </dgm:presLayoutVars>
      </dgm:prSet>
      <dgm:spPr/>
    </dgm:pt>
    <dgm:pt modelId="{1CA9FD6B-57F3-477B-8244-45EBFBC40EC6}" type="pres">
      <dgm:prSet presAssocID="{67BEEA4D-772F-4D82-B947-B99723A60B45}" presName="ChildText" presStyleLbl="revTx" presStyleIdx="1" presStyleCnt="6">
        <dgm:presLayoutVars>
          <dgm:chMax val="0"/>
          <dgm:chPref val="0"/>
          <dgm:bulletEnabled val="1"/>
        </dgm:presLayoutVars>
      </dgm:prSet>
      <dgm:spPr/>
    </dgm:pt>
    <dgm:pt modelId="{CDD63306-FAFE-4344-9652-FF6AF486D2F2}" type="pres">
      <dgm:prSet presAssocID="{E69C932D-403A-4669-ACA0-196FF40288A4}" presName="sibTrans" presStyleCnt="0"/>
      <dgm:spPr/>
    </dgm:pt>
    <dgm:pt modelId="{C78BAFC7-2628-4AB6-ADD6-0848E0BDB556}" type="pres">
      <dgm:prSet presAssocID="{D8A6BE86-B6CE-4EF4-8F0A-A735C67FA137}" presName="composite" presStyleCnt="0"/>
      <dgm:spPr/>
    </dgm:pt>
    <dgm:pt modelId="{6DCD98B8-54BA-48B8-BB93-E29DE1686D7F}" type="pres">
      <dgm:prSet presAssocID="{D8A6BE86-B6CE-4EF4-8F0A-A735C67FA137}" presName="bentUpArrow1" presStyleLbl="alignImgPlace1" presStyleIdx="2" presStyleCnt="5"/>
      <dgm:spPr/>
    </dgm:pt>
    <dgm:pt modelId="{E1DC3B9A-C913-4505-BB20-C9FA7D844E3A}" type="pres">
      <dgm:prSet presAssocID="{D8A6BE86-B6CE-4EF4-8F0A-A735C67FA137}" presName="ParentText" presStyleLbl="node1" presStyleIdx="2" presStyleCnt="6">
        <dgm:presLayoutVars>
          <dgm:chMax val="1"/>
          <dgm:chPref val="1"/>
          <dgm:bulletEnabled val="1"/>
        </dgm:presLayoutVars>
      </dgm:prSet>
      <dgm:spPr/>
    </dgm:pt>
    <dgm:pt modelId="{E6519C4A-9797-4D6A-89ED-EBAC682C3E82}" type="pres">
      <dgm:prSet presAssocID="{D8A6BE86-B6CE-4EF4-8F0A-A735C67FA137}" presName="ChildText" presStyleLbl="revTx" presStyleIdx="2" presStyleCnt="6">
        <dgm:presLayoutVars>
          <dgm:chMax val="0"/>
          <dgm:chPref val="0"/>
          <dgm:bulletEnabled val="1"/>
        </dgm:presLayoutVars>
      </dgm:prSet>
      <dgm:spPr/>
    </dgm:pt>
    <dgm:pt modelId="{8C30FEA0-5B6C-4D0C-9C3E-2FA2EBDE8761}" type="pres">
      <dgm:prSet presAssocID="{80E069FB-5456-4272-B832-0DACA84CBF78}" presName="sibTrans" presStyleCnt="0"/>
      <dgm:spPr/>
    </dgm:pt>
    <dgm:pt modelId="{D80DF879-E0C0-4B0A-9D77-B40AB8CBDE24}" type="pres">
      <dgm:prSet presAssocID="{5FD350C7-7FDF-4EEB-894E-55742297AA2A}" presName="composite" presStyleCnt="0"/>
      <dgm:spPr/>
    </dgm:pt>
    <dgm:pt modelId="{0D683456-794F-4C1E-BB90-D24AD8A101B7}" type="pres">
      <dgm:prSet presAssocID="{5FD350C7-7FDF-4EEB-894E-55742297AA2A}" presName="bentUpArrow1" presStyleLbl="alignImgPlace1" presStyleIdx="3" presStyleCnt="5"/>
      <dgm:spPr/>
    </dgm:pt>
    <dgm:pt modelId="{3BF34C2D-B4B0-47C0-A23A-A6CE6FB1E8DE}" type="pres">
      <dgm:prSet presAssocID="{5FD350C7-7FDF-4EEB-894E-55742297AA2A}" presName="ParentText" presStyleLbl="node1" presStyleIdx="3" presStyleCnt="6">
        <dgm:presLayoutVars>
          <dgm:chMax val="1"/>
          <dgm:chPref val="1"/>
          <dgm:bulletEnabled val="1"/>
        </dgm:presLayoutVars>
      </dgm:prSet>
      <dgm:spPr/>
    </dgm:pt>
    <dgm:pt modelId="{E4353EB6-1B82-4CA3-B14D-9AB23CFF7919}" type="pres">
      <dgm:prSet presAssocID="{5FD350C7-7FDF-4EEB-894E-55742297AA2A}" presName="ChildText" presStyleLbl="revTx" presStyleIdx="3" presStyleCnt="6">
        <dgm:presLayoutVars>
          <dgm:chMax val="0"/>
          <dgm:chPref val="0"/>
          <dgm:bulletEnabled val="1"/>
        </dgm:presLayoutVars>
      </dgm:prSet>
      <dgm:spPr/>
    </dgm:pt>
    <dgm:pt modelId="{457DC319-4A36-48FC-A23E-D33BB7BB233A}" type="pres">
      <dgm:prSet presAssocID="{906BC5DC-85C5-4FCF-A969-DE4A27D04968}" presName="sibTrans" presStyleCnt="0"/>
      <dgm:spPr/>
    </dgm:pt>
    <dgm:pt modelId="{2158A831-7CA5-4F6E-A986-37E82E0F5F32}" type="pres">
      <dgm:prSet presAssocID="{61CEBB44-DB18-4313-A702-2708084DB83D}" presName="composite" presStyleCnt="0"/>
      <dgm:spPr/>
    </dgm:pt>
    <dgm:pt modelId="{80EBC24F-468C-466F-8F56-6B0D995C6319}" type="pres">
      <dgm:prSet presAssocID="{61CEBB44-DB18-4313-A702-2708084DB83D}" presName="bentUpArrow1" presStyleLbl="alignImgPlace1" presStyleIdx="4" presStyleCnt="5"/>
      <dgm:spPr/>
    </dgm:pt>
    <dgm:pt modelId="{5402322F-5D2D-4D63-B92D-6A7C5FFFD1DD}" type="pres">
      <dgm:prSet presAssocID="{61CEBB44-DB18-4313-A702-2708084DB83D}" presName="ParentText" presStyleLbl="node1" presStyleIdx="4" presStyleCnt="6">
        <dgm:presLayoutVars>
          <dgm:chMax val="1"/>
          <dgm:chPref val="1"/>
          <dgm:bulletEnabled val="1"/>
        </dgm:presLayoutVars>
      </dgm:prSet>
      <dgm:spPr/>
    </dgm:pt>
    <dgm:pt modelId="{78C777EC-FD8E-4AFF-A08E-864F4EC8344F}" type="pres">
      <dgm:prSet presAssocID="{61CEBB44-DB18-4313-A702-2708084DB83D}" presName="ChildText" presStyleLbl="revTx" presStyleIdx="4" presStyleCnt="6">
        <dgm:presLayoutVars>
          <dgm:chMax val="0"/>
          <dgm:chPref val="0"/>
          <dgm:bulletEnabled val="1"/>
        </dgm:presLayoutVars>
      </dgm:prSet>
      <dgm:spPr/>
    </dgm:pt>
    <dgm:pt modelId="{C277CC1E-10D3-4C84-882A-8DFEF8BF0ADD}" type="pres">
      <dgm:prSet presAssocID="{C3A50EB6-ADD1-41F9-B2BD-C4DFFD2AE461}" presName="sibTrans" presStyleCnt="0"/>
      <dgm:spPr/>
    </dgm:pt>
    <dgm:pt modelId="{2F60274D-51E7-45CA-9B04-2331B135CE9A}" type="pres">
      <dgm:prSet presAssocID="{4201228E-A9D9-489F-92B4-E2D06159CEA7}" presName="composite" presStyleCnt="0"/>
      <dgm:spPr/>
    </dgm:pt>
    <dgm:pt modelId="{75D0C2B6-DA87-473D-9AFB-CA6657A17DE4}" type="pres">
      <dgm:prSet presAssocID="{4201228E-A9D9-489F-92B4-E2D06159CEA7}" presName="ParentText" presStyleLbl="node1" presStyleIdx="5" presStyleCnt="6">
        <dgm:presLayoutVars>
          <dgm:chMax val="1"/>
          <dgm:chPref val="1"/>
          <dgm:bulletEnabled val="1"/>
        </dgm:presLayoutVars>
      </dgm:prSet>
      <dgm:spPr/>
    </dgm:pt>
    <dgm:pt modelId="{21B3F365-2B4E-4AEB-AFDC-5143DF1B4BCB}" type="pres">
      <dgm:prSet presAssocID="{4201228E-A9D9-489F-92B4-E2D06159CEA7}" presName="FinalChildText" presStyleLbl="revTx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94CD7A0D-6138-4993-80B1-6CE556E17281}" type="presOf" srcId="{67BEEA4D-772F-4D82-B947-B99723A60B45}" destId="{3CB3F02E-3FBE-482A-8B04-DA10A751B208}" srcOrd="0" destOrd="0" presId="urn:microsoft.com/office/officeart/2005/8/layout/StepDownProcess"/>
    <dgm:cxn modelId="{446B411D-4A40-4767-9AA6-1574C538C651}" srcId="{AF19C520-5407-428A-949F-6CC2698DBBC4}" destId="{01E118C8-2BCA-43C4-8ADE-844EAF65DDFB}" srcOrd="0" destOrd="0" parTransId="{6A4DAB92-95C6-401E-A46B-9566A2A9F4AB}" sibTransId="{006DCB33-E759-4793-9749-F0B43C6B236D}"/>
    <dgm:cxn modelId="{17B80C33-7B21-4290-838C-C6F308CFC223}" type="presOf" srcId="{4201228E-A9D9-489F-92B4-E2D06159CEA7}" destId="{75D0C2B6-DA87-473D-9AFB-CA6657A17DE4}" srcOrd="0" destOrd="0" presId="urn:microsoft.com/office/officeart/2005/8/layout/StepDownProcess"/>
    <dgm:cxn modelId="{81047046-BDAD-4CC1-9BDD-70A628AFB35F}" type="presOf" srcId="{32B14D6C-3ADE-4B3F-B615-1C4799A95DBE}" destId="{21B3F365-2B4E-4AEB-AFDC-5143DF1B4BCB}" srcOrd="0" destOrd="0" presId="urn:microsoft.com/office/officeart/2005/8/layout/StepDownProcess"/>
    <dgm:cxn modelId="{B6BB0378-5725-4E05-BBD5-28712F4611EE}" type="presOf" srcId="{5FD350C7-7FDF-4EEB-894E-55742297AA2A}" destId="{3BF34C2D-B4B0-47C0-A23A-A6CE6FB1E8DE}" srcOrd="0" destOrd="0" presId="urn:microsoft.com/office/officeart/2005/8/layout/StepDownProcess"/>
    <dgm:cxn modelId="{6677387C-A9A9-4B15-AE7C-43CEBE0DC631}" type="presOf" srcId="{61CEBB44-DB18-4313-A702-2708084DB83D}" destId="{5402322F-5D2D-4D63-B92D-6A7C5FFFD1DD}" srcOrd="0" destOrd="0" presId="urn:microsoft.com/office/officeart/2005/8/layout/StepDownProcess"/>
    <dgm:cxn modelId="{CF61047E-8C91-4DEC-A74C-586CEEA51668}" type="presOf" srcId="{5D6257DA-824F-4C65-91A1-4D567AAE8E69}" destId="{229709ED-9E52-45F4-8916-136A86286E54}" srcOrd="0" destOrd="0" presId="urn:microsoft.com/office/officeart/2005/8/layout/StepDownProcess"/>
    <dgm:cxn modelId="{2C78DEA2-0A4C-48EF-B531-DDA7C3E5299C}" type="presOf" srcId="{D8A6BE86-B6CE-4EF4-8F0A-A735C67FA137}" destId="{E1DC3B9A-C913-4505-BB20-C9FA7D844E3A}" srcOrd="0" destOrd="0" presId="urn:microsoft.com/office/officeart/2005/8/layout/StepDownProcess"/>
    <dgm:cxn modelId="{8EE39EAB-5CFB-4FDF-B644-3E73FB161C7B}" type="presOf" srcId="{01E118C8-2BCA-43C4-8ADE-844EAF65DDFB}" destId="{49648490-F27D-4080-844F-D92245F20EFD}" srcOrd="0" destOrd="0" presId="urn:microsoft.com/office/officeart/2005/8/layout/StepDownProcess"/>
    <dgm:cxn modelId="{B89E6CC0-BA0D-4512-923F-29E76126B3F5}" srcId="{5D6257DA-824F-4C65-91A1-4D567AAE8E69}" destId="{67BEEA4D-772F-4D82-B947-B99723A60B45}" srcOrd="1" destOrd="0" parTransId="{A25016EA-6BC5-45BC-92FA-66319DA8EF89}" sibTransId="{E69C932D-403A-4669-ACA0-196FF40288A4}"/>
    <dgm:cxn modelId="{5E842FC3-E15D-4202-B49B-932B5D169A18}" type="presOf" srcId="{AF19C520-5407-428A-949F-6CC2698DBBC4}" destId="{8B2322C4-7B1E-41C8-8381-0619C5D18E27}" srcOrd="0" destOrd="0" presId="urn:microsoft.com/office/officeart/2005/8/layout/StepDownProcess"/>
    <dgm:cxn modelId="{2F3A60C6-8663-459C-AD23-A895DC7A4631}" srcId="{5D6257DA-824F-4C65-91A1-4D567AAE8E69}" destId="{AF19C520-5407-428A-949F-6CC2698DBBC4}" srcOrd="0" destOrd="0" parTransId="{A8ED0850-07FC-46DD-AF83-381BFD51BF10}" sibTransId="{87F33662-0E9E-43F9-B772-0BE1898FDA75}"/>
    <dgm:cxn modelId="{F4B8FCD7-8EA5-489D-87E0-E0AED47F34C8}" srcId="{5D6257DA-824F-4C65-91A1-4D567AAE8E69}" destId="{D8A6BE86-B6CE-4EF4-8F0A-A735C67FA137}" srcOrd="2" destOrd="0" parTransId="{72C46E0E-D1B5-413F-9877-CD98BC7C3F3F}" sibTransId="{80E069FB-5456-4272-B832-0DACA84CBF78}"/>
    <dgm:cxn modelId="{E7577DDD-CB46-497C-AC1D-FA05A9B357B5}" srcId="{5D6257DA-824F-4C65-91A1-4D567AAE8E69}" destId="{61CEBB44-DB18-4313-A702-2708084DB83D}" srcOrd="4" destOrd="0" parTransId="{11AB8712-302A-4C21-AB23-02902A4A193F}" sibTransId="{C3A50EB6-ADD1-41F9-B2BD-C4DFFD2AE461}"/>
    <dgm:cxn modelId="{374790F1-DFD1-4A67-848A-9C6B50C9EDFC}" srcId="{4201228E-A9D9-489F-92B4-E2D06159CEA7}" destId="{32B14D6C-3ADE-4B3F-B615-1C4799A95DBE}" srcOrd="0" destOrd="0" parTransId="{9CDE0EFF-24EA-463E-898B-2B5FE86A7848}" sibTransId="{ECB3C931-44C3-4A0F-A42F-D2093427D94D}"/>
    <dgm:cxn modelId="{A2F2B9F1-F835-4DBD-AF79-1B924F93D9F0}" srcId="{5D6257DA-824F-4C65-91A1-4D567AAE8E69}" destId="{4201228E-A9D9-489F-92B4-E2D06159CEA7}" srcOrd="5" destOrd="0" parTransId="{331BC621-F1B6-4565-8A01-37F2A5E542C0}" sibTransId="{5BB678E7-39BB-43E6-8ADC-60B37F38825B}"/>
    <dgm:cxn modelId="{004AFBF7-5106-4FB8-8DA7-DBD7196C7E21}" srcId="{5D6257DA-824F-4C65-91A1-4D567AAE8E69}" destId="{5FD350C7-7FDF-4EEB-894E-55742297AA2A}" srcOrd="3" destOrd="0" parTransId="{E9A8EB7D-71E4-4542-B7FE-6C77216C4D61}" sibTransId="{906BC5DC-85C5-4FCF-A969-DE4A27D04968}"/>
    <dgm:cxn modelId="{CB07831E-9CD1-4152-A32F-CD87A8B29CB4}" type="presParOf" srcId="{229709ED-9E52-45F4-8916-136A86286E54}" destId="{2478C613-EE66-45B3-A3CC-5D4960F1F084}" srcOrd="0" destOrd="0" presId="urn:microsoft.com/office/officeart/2005/8/layout/StepDownProcess"/>
    <dgm:cxn modelId="{4291ACD2-4207-4FBF-8EE1-EE085C7E15F5}" type="presParOf" srcId="{2478C613-EE66-45B3-A3CC-5D4960F1F084}" destId="{6E56AF83-E25B-43BA-AC49-AA683DDB20B8}" srcOrd="0" destOrd="0" presId="urn:microsoft.com/office/officeart/2005/8/layout/StepDownProcess"/>
    <dgm:cxn modelId="{9C55601A-4DFA-4F29-83B2-2CF4253DF7B0}" type="presParOf" srcId="{2478C613-EE66-45B3-A3CC-5D4960F1F084}" destId="{8B2322C4-7B1E-41C8-8381-0619C5D18E27}" srcOrd="1" destOrd="0" presId="urn:microsoft.com/office/officeart/2005/8/layout/StepDownProcess"/>
    <dgm:cxn modelId="{762EED77-F3FA-4D19-AFA4-78DA78EA15FD}" type="presParOf" srcId="{2478C613-EE66-45B3-A3CC-5D4960F1F084}" destId="{49648490-F27D-4080-844F-D92245F20EFD}" srcOrd="2" destOrd="0" presId="urn:microsoft.com/office/officeart/2005/8/layout/StepDownProcess"/>
    <dgm:cxn modelId="{631A3789-E64A-4805-ADDF-6901F8929DAA}" type="presParOf" srcId="{229709ED-9E52-45F4-8916-136A86286E54}" destId="{01A958C3-4324-466E-BAAA-87185816F8D2}" srcOrd="1" destOrd="0" presId="urn:microsoft.com/office/officeart/2005/8/layout/StepDownProcess"/>
    <dgm:cxn modelId="{4CE5E662-D5A7-44CE-B0A8-E49D27BFEDFE}" type="presParOf" srcId="{229709ED-9E52-45F4-8916-136A86286E54}" destId="{A98699CA-9371-4866-B3BD-4DE0AD3C5641}" srcOrd="2" destOrd="0" presId="urn:microsoft.com/office/officeart/2005/8/layout/StepDownProcess"/>
    <dgm:cxn modelId="{78653591-99C6-4406-8EBA-95685E183F8D}" type="presParOf" srcId="{A98699CA-9371-4866-B3BD-4DE0AD3C5641}" destId="{D68F1C04-913F-4560-9240-598632D8AF63}" srcOrd="0" destOrd="0" presId="urn:microsoft.com/office/officeart/2005/8/layout/StepDownProcess"/>
    <dgm:cxn modelId="{49D45D36-A808-4A30-87B3-D15C419E0E85}" type="presParOf" srcId="{A98699CA-9371-4866-B3BD-4DE0AD3C5641}" destId="{3CB3F02E-3FBE-482A-8B04-DA10A751B208}" srcOrd="1" destOrd="0" presId="urn:microsoft.com/office/officeart/2005/8/layout/StepDownProcess"/>
    <dgm:cxn modelId="{44E6563E-69DF-43FD-B57C-BF6D156D3D1C}" type="presParOf" srcId="{A98699CA-9371-4866-B3BD-4DE0AD3C5641}" destId="{1CA9FD6B-57F3-477B-8244-45EBFBC40EC6}" srcOrd="2" destOrd="0" presId="urn:microsoft.com/office/officeart/2005/8/layout/StepDownProcess"/>
    <dgm:cxn modelId="{FAAFBC63-C9F7-4A2C-96CB-5DF73D18E028}" type="presParOf" srcId="{229709ED-9E52-45F4-8916-136A86286E54}" destId="{CDD63306-FAFE-4344-9652-FF6AF486D2F2}" srcOrd="3" destOrd="0" presId="urn:microsoft.com/office/officeart/2005/8/layout/StepDownProcess"/>
    <dgm:cxn modelId="{D3B36A6A-44A8-43C8-AF70-63E91E97476C}" type="presParOf" srcId="{229709ED-9E52-45F4-8916-136A86286E54}" destId="{C78BAFC7-2628-4AB6-ADD6-0848E0BDB556}" srcOrd="4" destOrd="0" presId="urn:microsoft.com/office/officeart/2005/8/layout/StepDownProcess"/>
    <dgm:cxn modelId="{B2547460-B2CB-48CB-917A-CCB000211313}" type="presParOf" srcId="{C78BAFC7-2628-4AB6-ADD6-0848E0BDB556}" destId="{6DCD98B8-54BA-48B8-BB93-E29DE1686D7F}" srcOrd="0" destOrd="0" presId="urn:microsoft.com/office/officeart/2005/8/layout/StepDownProcess"/>
    <dgm:cxn modelId="{09A3D8EB-F00E-4015-A4BE-737C0D3B4B5F}" type="presParOf" srcId="{C78BAFC7-2628-4AB6-ADD6-0848E0BDB556}" destId="{E1DC3B9A-C913-4505-BB20-C9FA7D844E3A}" srcOrd="1" destOrd="0" presId="urn:microsoft.com/office/officeart/2005/8/layout/StepDownProcess"/>
    <dgm:cxn modelId="{09DEFCD0-D59C-44C7-BB00-7A4564364733}" type="presParOf" srcId="{C78BAFC7-2628-4AB6-ADD6-0848E0BDB556}" destId="{E6519C4A-9797-4D6A-89ED-EBAC682C3E82}" srcOrd="2" destOrd="0" presId="urn:microsoft.com/office/officeart/2005/8/layout/StepDownProcess"/>
    <dgm:cxn modelId="{8137DDDE-5A1D-49D2-8649-B23FB5A5EDCF}" type="presParOf" srcId="{229709ED-9E52-45F4-8916-136A86286E54}" destId="{8C30FEA0-5B6C-4D0C-9C3E-2FA2EBDE8761}" srcOrd="5" destOrd="0" presId="urn:microsoft.com/office/officeart/2005/8/layout/StepDownProcess"/>
    <dgm:cxn modelId="{77DF82EE-1EA5-4DA6-A2B1-68FEA9DE9C3B}" type="presParOf" srcId="{229709ED-9E52-45F4-8916-136A86286E54}" destId="{D80DF879-E0C0-4B0A-9D77-B40AB8CBDE24}" srcOrd="6" destOrd="0" presId="urn:microsoft.com/office/officeart/2005/8/layout/StepDownProcess"/>
    <dgm:cxn modelId="{85D97013-86C5-4911-B862-FF0F4794756B}" type="presParOf" srcId="{D80DF879-E0C0-4B0A-9D77-B40AB8CBDE24}" destId="{0D683456-794F-4C1E-BB90-D24AD8A101B7}" srcOrd="0" destOrd="0" presId="urn:microsoft.com/office/officeart/2005/8/layout/StepDownProcess"/>
    <dgm:cxn modelId="{76F9277B-4EC4-4235-81E6-A61461E1ECF5}" type="presParOf" srcId="{D80DF879-E0C0-4B0A-9D77-B40AB8CBDE24}" destId="{3BF34C2D-B4B0-47C0-A23A-A6CE6FB1E8DE}" srcOrd="1" destOrd="0" presId="urn:microsoft.com/office/officeart/2005/8/layout/StepDownProcess"/>
    <dgm:cxn modelId="{6B55AEAD-D41B-4500-A32B-598AF4CAEB66}" type="presParOf" srcId="{D80DF879-E0C0-4B0A-9D77-B40AB8CBDE24}" destId="{E4353EB6-1B82-4CA3-B14D-9AB23CFF7919}" srcOrd="2" destOrd="0" presId="urn:microsoft.com/office/officeart/2005/8/layout/StepDownProcess"/>
    <dgm:cxn modelId="{252684FC-903A-4FD8-A6F1-30D38211B96D}" type="presParOf" srcId="{229709ED-9E52-45F4-8916-136A86286E54}" destId="{457DC319-4A36-48FC-A23E-D33BB7BB233A}" srcOrd="7" destOrd="0" presId="urn:microsoft.com/office/officeart/2005/8/layout/StepDownProcess"/>
    <dgm:cxn modelId="{1216CD91-488B-4F32-B651-01AB62060D18}" type="presParOf" srcId="{229709ED-9E52-45F4-8916-136A86286E54}" destId="{2158A831-7CA5-4F6E-A986-37E82E0F5F32}" srcOrd="8" destOrd="0" presId="urn:microsoft.com/office/officeart/2005/8/layout/StepDownProcess"/>
    <dgm:cxn modelId="{13A2CF2B-F076-4037-8C4E-62E52B691715}" type="presParOf" srcId="{2158A831-7CA5-4F6E-A986-37E82E0F5F32}" destId="{80EBC24F-468C-466F-8F56-6B0D995C6319}" srcOrd="0" destOrd="0" presId="urn:microsoft.com/office/officeart/2005/8/layout/StepDownProcess"/>
    <dgm:cxn modelId="{4F645C97-6B3A-4BE4-9B7F-E42E1659D7AD}" type="presParOf" srcId="{2158A831-7CA5-4F6E-A986-37E82E0F5F32}" destId="{5402322F-5D2D-4D63-B92D-6A7C5FFFD1DD}" srcOrd="1" destOrd="0" presId="urn:microsoft.com/office/officeart/2005/8/layout/StepDownProcess"/>
    <dgm:cxn modelId="{CF244D9C-FBFD-4481-AE6F-7BF706829672}" type="presParOf" srcId="{2158A831-7CA5-4F6E-A986-37E82E0F5F32}" destId="{78C777EC-FD8E-4AFF-A08E-864F4EC8344F}" srcOrd="2" destOrd="0" presId="urn:microsoft.com/office/officeart/2005/8/layout/StepDownProcess"/>
    <dgm:cxn modelId="{134E1CA4-786A-4814-8164-802DC2B9278B}" type="presParOf" srcId="{229709ED-9E52-45F4-8916-136A86286E54}" destId="{C277CC1E-10D3-4C84-882A-8DFEF8BF0ADD}" srcOrd="9" destOrd="0" presId="urn:microsoft.com/office/officeart/2005/8/layout/StepDownProcess"/>
    <dgm:cxn modelId="{C09FFE99-7046-440D-B808-1068EC4CF4AE}" type="presParOf" srcId="{229709ED-9E52-45F4-8916-136A86286E54}" destId="{2F60274D-51E7-45CA-9B04-2331B135CE9A}" srcOrd="10" destOrd="0" presId="urn:microsoft.com/office/officeart/2005/8/layout/StepDownProcess"/>
    <dgm:cxn modelId="{DF275862-88C6-4077-9C2F-F88AAEF5AC1F}" type="presParOf" srcId="{2F60274D-51E7-45CA-9B04-2331B135CE9A}" destId="{75D0C2B6-DA87-473D-9AFB-CA6657A17DE4}" srcOrd="0" destOrd="0" presId="urn:microsoft.com/office/officeart/2005/8/layout/StepDownProcess"/>
    <dgm:cxn modelId="{AE2FB3BB-1258-4073-B6B4-7EFB4DD965DF}" type="presParOf" srcId="{2F60274D-51E7-45CA-9B04-2331B135CE9A}" destId="{21B3F365-2B4E-4AEB-AFDC-5143DF1B4BCB}" srcOrd="1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56AF83-E25B-43BA-AC49-AA683DDB20B8}">
      <dsp:nvSpPr>
        <dsp:cNvPr id="0" name=""/>
        <dsp:cNvSpPr/>
      </dsp:nvSpPr>
      <dsp:spPr>
        <a:xfrm rot="5400000">
          <a:off x="124164" y="571967"/>
          <a:ext cx="461364" cy="525247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2322C4-7B1E-41C8-8381-0619C5D18E27}">
      <dsp:nvSpPr>
        <dsp:cNvPr id="0" name=""/>
        <dsp:cNvSpPr/>
      </dsp:nvSpPr>
      <dsp:spPr>
        <a:xfrm>
          <a:off x="1930" y="60534"/>
          <a:ext cx="776667" cy="543641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700" kern="1200" dirty="0"/>
            <a:t>Low Resolution /</a:t>
          </a:r>
          <a:br>
            <a:rPr lang="en-IN" sz="700" kern="1200" dirty="0"/>
          </a:br>
          <a:r>
            <a:rPr lang="en-IN" sz="700" kern="1200" dirty="0"/>
            <a:t>Grayscale Satellite Image</a:t>
          </a:r>
        </a:p>
      </dsp:txBody>
      <dsp:txXfrm>
        <a:off x="28473" y="87077"/>
        <a:ext cx="723581" cy="490555"/>
      </dsp:txXfrm>
    </dsp:sp>
    <dsp:sp modelId="{49648490-F27D-4080-844F-D92245F20EFD}">
      <dsp:nvSpPr>
        <dsp:cNvPr id="0" name=""/>
        <dsp:cNvSpPr/>
      </dsp:nvSpPr>
      <dsp:spPr>
        <a:xfrm>
          <a:off x="778597" y="112383"/>
          <a:ext cx="564873" cy="4393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57150" lvl="1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N" sz="500" kern="1200" dirty="0"/>
        </a:p>
      </dsp:txBody>
      <dsp:txXfrm>
        <a:off x="778597" y="112383"/>
        <a:ext cx="564873" cy="439395"/>
      </dsp:txXfrm>
    </dsp:sp>
    <dsp:sp modelId="{D68F1C04-913F-4560-9240-598632D8AF63}">
      <dsp:nvSpPr>
        <dsp:cNvPr id="0" name=""/>
        <dsp:cNvSpPr/>
      </dsp:nvSpPr>
      <dsp:spPr>
        <a:xfrm rot="5400000">
          <a:off x="768104" y="1182656"/>
          <a:ext cx="461364" cy="525247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B3F02E-3FBE-482A-8B04-DA10A751B208}">
      <dsp:nvSpPr>
        <dsp:cNvPr id="0" name=""/>
        <dsp:cNvSpPr/>
      </dsp:nvSpPr>
      <dsp:spPr>
        <a:xfrm>
          <a:off x="645870" y="671224"/>
          <a:ext cx="776667" cy="543641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700" kern="1200" dirty="0"/>
            <a:t>Image Preprocessing</a:t>
          </a:r>
        </a:p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700" kern="1200" dirty="0"/>
            <a:t>Deep Learning Model</a:t>
          </a:r>
        </a:p>
      </dsp:txBody>
      <dsp:txXfrm>
        <a:off x="672413" y="697767"/>
        <a:ext cx="723581" cy="490555"/>
      </dsp:txXfrm>
    </dsp:sp>
    <dsp:sp modelId="{1CA9FD6B-57F3-477B-8244-45EBFBC40EC6}">
      <dsp:nvSpPr>
        <dsp:cNvPr id="0" name=""/>
        <dsp:cNvSpPr/>
      </dsp:nvSpPr>
      <dsp:spPr>
        <a:xfrm>
          <a:off x="1422537" y="723072"/>
          <a:ext cx="564873" cy="4393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DCD98B8-54BA-48B8-BB93-E29DE1686D7F}">
      <dsp:nvSpPr>
        <dsp:cNvPr id="0" name=""/>
        <dsp:cNvSpPr/>
      </dsp:nvSpPr>
      <dsp:spPr>
        <a:xfrm rot="5400000">
          <a:off x="1412043" y="1793345"/>
          <a:ext cx="461364" cy="525247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DC3B9A-C913-4505-BB20-C9FA7D844E3A}">
      <dsp:nvSpPr>
        <dsp:cNvPr id="0" name=""/>
        <dsp:cNvSpPr/>
      </dsp:nvSpPr>
      <dsp:spPr>
        <a:xfrm>
          <a:off x="1289809" y="1281913"/>
          <a:ext cx="776667" cy="543641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700" kern="1200" dirty="0"/>
            <a:t>Super Resolution</a:t>
          </a:r>
        </a:p>
      </dsp:txBody>
      <dsp:txXfrm>
        <a:off x="1316352" y="1308456"/>
        <a:ext cx="723581" cy="490555"/>
      </dsp:txXfrm>
    </dsp:sp>
    <dsp:sp modelId="{E6519C4A-9797-4D6A-89ED-EBAC682C3E82}">
      <dsp:nvSpPr>
        <dsp:cNvPr id="0" name=""/>
        <dsp:cNvSpPr/>
      </dsp:nvSpPr>
      <dsp:spPr>
        <a:xfrm>
          <a:off x="2066476" y="1333761"/>
          <a:ext cx="564873" cy="4393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D683456-794F-4C1E-BB90-D24AD8A101B7}">
      <dsp:nvSpPr>
        <dsp:cNvPr id="0" name=""/>
        <dsp:cNvSpPr/>
      </dsp:nvSpPr>
      <dsp:spPr>
        <a:xfrm rot="5400000">
          <a:off x="2055983" y="2404034"/>
          <a:ext cx="461364" cy="525247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F34C2D-B4B0-47C0-A23A-A6CE6FB1E8DE}">
      <dsp:nvSpPr>
        <dsp:cNvPr id="0" name=""/>
        <dsp:cNvSpPr/>
      </dsp:nvSpPr>
      <dsp:spPr>
        <a:xfrm>
          <a:off x="1933749" y="1892602"/>
          <a:ext cx="776667" cy="543641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700" kern="1200" dirty="0"/>
            <a:t>Colorization Network</a:t>
          </a:r>
        </a:p>
      </dsp:txBody>
      <dsp:txXfrm>
        <a:off x="1960292" y="1919145"/>
        <a:ext cx="723581" cy="490555"/>
      </dsp:txXfrm>
    </dsp:sp>
    <dsp:sp modelId="{E4353EB6-1B82-4CA3-B14D-9AB23CFF7919}">
      <dsp:nvSpPr>
        <dsp:cNvPr id="0" name=""/>
        <dsp:cNvSpPr/>
      </dsp:nvSpPr>
      <dsp:spPr>
        <a:xfrm>
          <a:off x="2710416" y="1944450"/>
          <a:ext cx="564873" cy="4393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0EBC24F-468C-466F-8F56-6B0D995C6319}">
      <dsp:nvSpPr>
        <dsp:cNvPr id="0" name=""/>
        <dsp:cNvSpPr/>
      </dsp:nvSpPr>
      <dsp:spPr>
        <a:xfrm rot="5400000">
          <a:off x="2699922" y="3014723"/>
          <a:ext cx="461364" cy="525247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02322F-5D2D-4D63-B92D-6A7C5FFFD1DD}">
      <dsp:nvSpPr>
        <dsp:cNvPr id="0" name=""/>
        <dsp:cNvSpPr/>
      </dsp:nvSpPr>
      <dsp:spPr>
        <a:xfrm>
          <a:off x="2577688" y="2503291"/>
          <a:ext cx="776667" cy="543641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700" kern="1200" dirty="0"/>
            <a:t>Post Processing</a:t>
          </a:r>
        </a:p>
      </dsp:txBody>
      <dsp:txXfrm>
        <a:off x="2604231" y="2529834"/>
        <a:ext cx="723581" cy="490555"/>
      </dsp:txXfrm>
    </dsp:sp>
    <dsp:sp modelId="{78C777EC-FD8E-4AFF-A08E-864F4EC8344F}">
      <dsp:nvSpPr>
        <dsp:cNvPr id="0" name=""/>
        <dsp:cNvSpPr/>
      </dsp:nvSpPr>
      <dsp:spPr>
        <a:xfrm>
          <a:off x="3354356" y="2555139"/>
          <a:ext cx="564873" cy="4393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5D0C2B6-DA87-473D-9AFB-CA6657A17DE4}">
      <dsp:nvSpPr>
        <dsp:cNvPr id="0" name=""/>
        <dsp:cNvSpPr/>
      </dsp:nvSpPr>
      <dsp:spPr>
        <a:xfrm>
          <a:off x="3221628" y="3113980"/>
          <a:ext cx="776667" cy="543641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700" kern="1200" dirty="0"/>
            <a:t>Enhanced High Resolution</a:t>
          </a:r>
          <a:br>
            <a:rPr lang="en-IN" sz="700" kern="1200" dirty="0"/>
          </a:br>
          <a:r>
            <a:rPr lang="en-IN" sz="700" kern="1200" dirty="0" err="1"/>
            <a:t>Color</a:t>
          </a:r>
          <a:r>
            <a:rPr lang="en-IN" sz="700" kern="1200" dirty="0"/>
            <a:t> Satellite Image</a:t>
          </a:r>
        </a:p>
      </dsp:txBody>
      <dsp:txXfrm>
        <a:off x="3248171" y="3140523"/>
        <a:ext cx="723581" cy="490555"/>
      </dsp:txXfrm>
    </dsp:sp>
    <dsp:sp modelId="{21B3F365-2B4E-4AEB-AFDC-5143DF1B4BCB}">
      <dsp:nvSpPr>
        <dsp:cNvPr id="0" name=""/>
        <dsp:cNvSpPr/>
      </dsp:nvSpPr>
      <dsp:spPr>
        <a:xfrm>
          <a:off x="3998295" y="3165828"/>
          <a:ext cx="564873" cy="4393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N" sz="1100" kern="1200" dirty="0"/>
        </a:p>
      </dsp:txBody>
      <dsp:txXfrm>
        <a:off x="3998295" y="3165828"/>
        <a:ext cx="564873" cy="4393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>
          <a:extLst>
            <a:ext uri="{FF2B5EF4-FFF2-40B4-BE49-F238E27FC236}">
              <a16:creationId xmlns:a16="http://schemas.microsoft.com/office/drawing/2014/main" id="{66C55C65-D99D-ADCE-B034-0E7B528E3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:notes">
            <a:extLst>
              <a:ext uri="{FF2B5EF4-FFF2-40B4-BE49-F238E27FC236}">
                <a16:creationId xmlns:a16="http://schemas.microsoft.com/office/drawing/2014/main" id="{BAE6D44E-3F3D-8B55-137F-CE9A62F932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p4:notes">
            <a:extLst>
              <a:ext uri="{FF2B5EF4-FFF2-40B4-BE49-F238E27FC236}">
                <a16:creationId xmlns:a16="http://schemas.microsoft.com/office/drawing/2014/main" id="{666D83E7-498A-8C19-553C-C296A53F60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786419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" name="Google Shape;7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" name="Google Shape;7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" name="Google Shape;10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2.png"/><Relationship Id="rId7" Type="http://schemas.openxmlformats.org/officeDocument/2006/relationships/diagramQuickStyle" Target="../diagrams/quickStyle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4.png"/><Relationship Id="rId9" Type="http://schemas.microsoft.com/office/2007/relationships/diagramDrawing" Target="../diagrams/drawing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353533d3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294675" y="3319373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0" i="0" u="none" strike="noStrike" cap="none" dirty="0">
                <a:solidFill>
                  <a:srgbClr val="202729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Team Name : PS10 solver</a:t>
            </a:r>
            <a:endParaRPr sz="1600" b="0" i="0" u="none" strike="noStrike" cap="none" dirty="0">
              <a:solidFill>
                <a:srgbClr val="202729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28730" y="4269210"/>
            <a:ext cx="8520600" cy="729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lnSpc>
                <a:spcPct val="70000"/>
              </a:lnSpc>
              <a:buSzPts val="1600"/>
            </a:pPr>
            <a:r>
              <a:rPr lang="en-GB" sz="1600" b="0" i="0" u="none" strike="noStrike" cap="none" dirty="0">
                <a:solidFill>
                  <a:srgbClr val="202729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Problem Statement </a:t>
            </a:r>
            <a:r>
              <a:rPr lang="en-GB" sz="1700" b="0" i="0" u="none" strike="noStrike" cap="none" dirty="0">
                <a:solidFill>
                  <a:srgbClr val="202729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: </a:t>
            </a:r>
            <a:r>
              <a:rPr lang="en-IN" sz="1700" dirty="0">
                <a:latin typeface="Google Sans Medium" panose="020B0604020202020204" charset="0"/>
                <a:ea typeface="Google Sans Medium" panose="020B0604020202020204" charset="0"/>
                <a:cs typeface="Google Sans Medium" panose="020B0604020202020204" charset="0"/>
              </a:rPr>
              <a:t>Infrared image colorization and enhancement for improved    			   object interpretation</a:t>
            </a:r>
          </a:p>
          <a:p>
            <a:pPr marL="0" marR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rgbClr val="202729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10163" y="3794133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0" i="0" u="none" strike="noStrike" cap="none" dirty="0">
                <a:solidFill>
                  <a:srgbClr val="202729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Team Leader Name : Parth Tripathi</a:t>
            </a:r>
            <a:endParaRPr sz="1600" b="0" i="0" u="none" strike="noStrike" cap="none" dirty="0">
              <a:solidFill>
                <a:srgbClr val="202729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title="wswswsw33d3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3370500" y="702175"/>
            <a:ext cx="24030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018"/>
              <a:buFont typeface="Arial"/>
              <a:buNone/>
            </a:pPr>
            <a:r>
              <a:rPr lang="en-GB" sz="2050" b="0" i="0" u="none" strike="noStrike" cap="none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Team Members</a:t>
            </a:r>
            <a:endParaRPr sz="2050" b="0" i="0" u="none" strike="noStrike" cap="none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graphicFrame>
        <p:nvGraphicFramePr>
          <p:cNvPr id="64" name="Google Shape;64;p14"/>
          <p:cNvGraphicFramePr/>
          <p:nvPr>
            <p:extLst>
              <p:ext uri="{D42A27DB-BD31-4B8C-83A1-F6EECF244321}">
                <p14:modId xmlns:p14="http://schemas.microsoft.com/office/powerpoint/2010/main" val="4125928654"/>
              </p:ext>
            </p:extLst>
          </p:nvPr>
        </p:nvGraphicFramePr>
        <p:xfrm>
          <a:off x="952500" y="1329450"/>
          <a:ext cx="7239000" cy="3684705"/>
        </p:xfrm>
        <a:graphic>
          <a:graphicData uri="http://schemas.openxmlformats.org/drawingml/2006/table">
            <a:tbl>
              <a:tblPr>
                <a:noFill/>
                <a:tableStyleId>{1A897B03-562E-43C7-999C-747ED4AE98B7}</a:tableStyleId>
              </a:tblPr>
              <a:tblGrid>
                <a:gridCol w="361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94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strike="noStrike" cap="none" dirty="0"/>
                        <a:t>Team Leader: </a:t>
                      </a:r>
                      <a:endParaRPr sz="1400" u="none" strike="noStrike" cap="none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strike="noStrike" cap="none" dirty="0"/>
                        <a:t>Name: Parth Tripathi</a:t>
                      </a:r>
                      <a:endParaRPr sz="1400" u="none" strike="noStrike" cap="none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strike="noStrike" cap="none" dirty="0"/>
                        <a:t>College: IIT Hyderabad</a:t>
                      </a:r>
                      <a:endParaRPr sz="1400" u="none" strike="noStrike" cap="none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400" u="none" strike="noStrike" cap="none" dirty="0">
                          <a:solidFill>
                            <a:schemeClr val="dk1"/>
                          </a:solidFill>
                        </a:rPr>
                        <a:t>Team Member-1: </a:t>
                      </a:r>
                      <a:endParaRPr sz="1400" u="none" strike="noStrike" cap="none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400" u="none" strike="noStrike" cap="none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400" u="none" strike="noStrike" cap="none" dirty="0">
                          <a:solidFill>
                            <a:schemeClr val="dk1"/>
                          </a:solidFill>
                        </a:rPr>
                        <a:t>Name: Parth</a:t>
                      </a:r>
                      <a:endParaRPr sz="1400" u="none" strike="noStrike" cap="none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400" u="none" strike="noStrike" cap="none" dirty="0">
                          <a:solidFill>
                            <a:schemeClr val="dk1"/>
                          </a:solidFill>
                        </a:rPr>
                        <a:t>College: HBTI </a:t>
                      </a:r>
                      <a:r>
                        <a:rPr lang="en-GB" sz="1400" u="none" strike="noStrike" cap="none" dirty="0" err="1">
                          <a:solidFill>
                            <a:schemeClr val="dk1"/>
                          </a:solidFill>
                        </a:rPr>
                        <a:t>kanpur</a:t>
                      </a:r>
                      <a:endParaRPr sz="1400" u="none" strike="noStrike" cap="none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4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400" u="none" strike="noStrike" cap="none" dirty="0">
                          <a:solidFill>
                            <a:schemeClr val="dk1"/>
                          </a:solidFill>
                        </a:rPr>
                        <a:t>Team Member-2: </a:t>
                      </a:r>
                      <a:endParaRPr sz="1400" u="none" strike="noStrike" cap="none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400" u="none" strike="noStrike" cap="none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400" u="none" strike="noStrike" cap="none" dirty="0">
                          <a:solidFill>
                            <a:schemeClr val="dk1"/>
                          </a:solidFill>
                        </a:rPr>
                        <a:t>Name: Bhavya Mittal</a:t>
                      </a:r>
                      <a:endParaRPr sz="1400" u="none" strike="noStrike" cap="none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r>
                        <a:rPr lang="en-GB" sz="1400" u="none" strike="noStrike" cap="none" dirty="0">
                          <a:solidFill>
                            <a:schemeClr val="dk1"/>
                          </a:solidFill>
                        </a:rPr>
                        <a:t>College:</a:t>
                      </a:r>
                      <a:r>
                        <a:rPr lang="en-IN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Guru Gobind Singh Indraprastha University (GGSIPU), Delhi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400" u="none" strike="noStrike" cap="none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400" u="none" strike="noStrike" cap="none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400" u="none" strike="noStrike" cap="none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>
          <a:extLst>
            <a:ext uri="{FF2B5EF4-FFF2-40B4-BE49-F238E27FC236}">
              <a16:creationId xmlns:a16="http://schemas.microsoft.com/office/drawing/2014/main" id="{44343220-5FA1-D6E9-F547-544D49F6E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wswswsw33d3d.png">
            <a:extLst>
              <a:ext uri="{FF2B5EF4-FFF2-40B4-BE49-F238E27FC236}">
                <a16:creationId xmlns:a16="http://schemas.microsoft.com/office/drawing/2014/main" id="{69B9C421-5F71-4EAF-1D93-8BC4D65E30F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>
            <a:extLst>
              <a:ext uri="{FF2B5EF4-FFF2-40B4-BE49-F238E27FC236}">
                <a16:creationId xmlns:a16="http://schemas.microsoft.com/office/drawing/2014/main" id="{6350AC40-657E-6950-F26A-DC1FF57B595F}"/>
              </a:ext>
            </a:extLst>
          </p:cNvPr>
          <p:cNvSpPr txBox="1"/>
          <p:nvPr/>
        </p:nvSpPr>
        <p:spPr>
          <a:xfrm>
            <a:off x="311700" y="863550"/>
            <a:ext cx="75693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4"/>
              <a:buFont typeface="Arial"/>
              <a:buNone/>
            </a:pPr>
            <a:r>
              <a:rPr lang="en-GB" sz="6450" b="0" i="0" u="none" strike="noStrike" cap="none" dirty="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  Opportunity should be able to explain the following:</a:t>
            </a:r>
            <a:endParaRPr sz="6450" b="0" i="0" u="none" strike="noStrike" cap="none" dirty="0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  <a:p>
            <a:pPr marL="457200" marR="0" lvl="0" indent="-331025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Google Sans"/>
              <a:buChar char="●"/>
            </a:pPr>
            <a:r>
              <a:rPr lang="en-GB" sz="6450" b="0" i="0" u="none" strike="noStrike" cap="none" dirty="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rPr>
              <a:t>How different is it from any of the other existing ideas?</a:t>
            </a:r>
            <a:endParaRPr sz="6450" b="0" i="0" u="none" strike="noStrike" cap="none" dirty="0">
              <a:solidFill>
                <a:schemeClr val="dk2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ct val="61666"/>
              <a:buFont typeface="Arial"/>
              <a:buNone/>
            </a:pPr>
            <a:endParaRPr sz="1650" b="0" i="0" u="none" strike="noStrike" cap="none" dirty="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9C1D2C-CFB3-9D3B-7AA4-AA77D3AF3554}"/>
              </a:ext>
            </a:extLst>
          </p:cNvPr>
          <p:cNvSpPr txBox="1"/>
          <p:nvPr/>
        </p:nvSpPr>
        <p:spPr>
          <a:xfrm>
            <a:off x="763009" y="1641075"/>
            <a:ext cx="7969208" cy="364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Problem</a:t>
            </a:r>
          </a:p>
          <a:p>
            <a:r>
              <a:rPr lang="en-IN" sz="1300" dirty="0"/>
              <a:t>Satellite imagery plays a vital role in agriculture, disaster management, urban planning, environmental monitoring, and </a:t>
            </a:r>
            <a:r>
              <a:rPr lang="en-IN" sz="1300" dirty="0" err="1"/>
              <a:t>defense</a:t>
            </a:r>
            <a:r>
              <a:rPr lang="en-IN" sz="1300" dirty="0"/>
              <a:t>. However, many archived and real-time satellite images suffer from:</a:t>
            </a:r>
          </a:p>
          <a:p>
            <a:r>
              <a:rPr lang="en-IN" sz="1300" dirty="0"/>
              <a:t>Low spatial resolution </a:t>
            </a:r>
          </a:p>
          <a:p>
            <a:r>
              <a:rPr lang="en-IN" sz="1300" dirty="0"/>
              <a:t>Limited visual details </a:t>
            </a:r>
          </a:p>
          <a:p>
            <a:r>
              <a:rPr lang="en-IN" sz="1300" dirty="0"/>
              <a:t>Grayscale imagery from older sensors </a:t>
            </a:r>
          </a:p>
          <a:p>
            <a:r>
              <a:rPr lang="en-IN" sz="1300" dirty="0"/>
              <a:t>Loss of fine features due to sensor limitations </a:t>
            </a:r>
          </a:p>
          <a:p>
            <a:r>
              <a:rPr lang="en-IN" sz="1300" dirty="0"/>
              <a:t>These issues reduce the effectiveness of image interpretation and downstream applications.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Proposed Solution</a:t>
            </a:r>
          </a:p>
          <a:p>
            <a:r>
              <a:rPr lang="en-IN" sz="1300" dirty="0"/>
              <a:t>Develop an AI-powered framework capable of:</a:t>
            </a:r>
          </a:p>
          <a:p>
            <a:r>
              <a:rPr lang="en-IN" sz="1300" dirty="0"/>
              <a:t>Enhancing low-resolution satellite images to high-resolution images. </a:t>
            </a:r>
          </a:p>
          <a:p>
            <a:r>
              <a:rPr lang="en-IN" sz="1300" dirty="0"/>
              <a:t>Automatically colorizing grayscale satellite imagery. </a:t>
            </a:r>
          </a:p>
          <a:p>
            <a:r>
              <a:rPr lang="en-IN" sz="1300" dirty="0"/>
              <a:t>Preserving geographical structures and textures. </a:t>
            </a:r>
          </a:p>
          <a:p>
            <a:r>
              <a:rPr lang="en-IN" sz="1300" dirty="0"/>
              <a:t>Producing visually realistic images suitable for analysis and visualization.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426026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wswswsw33d3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8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 txBox="1"/>
          <p:nvPr/>
        </p:nvSpPr>
        <p:spPr>
          <a:xfrm>
            <a:off x="311700" y="863550"/>
            <a:ext cx="75693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4"/>
              <a:buFont typeface="Arial"/>
              <a:buNone/>
            </a:pPr>
            <a:r>
              <a:rPr lang="en-GB" sz="6450" b="0" i="0" u="none" strike="noStrike" cap="none" dirty="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  Opportunity should be able to explain the following:</a:t>
            </a:r>
            <a:endParaRPr sz="6450" b="0" i="0" u="none" strike="noStrike" cap="none" dirty="0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ct val="61666"/>
              <a:buFont typeface="Arial"/>
              <a:buNone/>
            </a:pPr>
            <a:endParaRPr sz="1650" b="0" i="0" u="none" strike="noStrike" cap="none" dirty="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37CC84-A619-0213-0409-C60EAABCCE05}"/>
              </a:ext>
            </a:extLst>
          </p:cNvPr>
          <p:cNvSpPr txBox="1"/>
          <p:nvPr/>
        </p:nvSpPr>
        <p:spPr>
          <a:xfrm>
            <a:off x="744833" y="1239870"/>
            <a:ext cx="3827158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rPr>
              <a:t>USP of the proposed solution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Google Sans Medium" panose="020B0604020202020204" charset="0"/>
                <a:ea typeface="Google Sans Medium" panose="020B0604020202020204" charset="0"/>
                <a:cs typeface="Google Sans Medium" panose="020B0604020202020204" charset="0"/>
              </a:rPr>
              <a:t>Single unified framework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Google Sans Medium" panose="020B0604020202020204" charset="0"/>
                <a:ea typeface="Google Sans Medium" panose="020B0604020202020204" charset="0"/>
                <a:cs typeface="Google Sans Medium" panose="020B0604020202020204" charset="0"/>
              </a:rPr>
              <a:t>Preserves fine geographical details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Google Sans Medium" panose="020B0604020202020204" charset="0"/>
                <a:ea typeface="Google Sans Medium" panose="020B0604020202020204" charset="0"/>
                <a:cs typeface="Google Sans Medium" panose="020B0604020202020204" charset="0"/>
              </a:rPr>
              <a:t>Generates realistic </a:t>
            </a:r>
            <a:r>
              <a:rPr lang="en-IN" sz="1600" dirty="0" err="1">
                <a:latin typeface="Google Sans Medium" panose="020B0604020202020204" charset="0"/>
                <a:ea typeface="Google Sans Medium" panose="020B0604020202020204" charset="0"/>
                <a:cs typeface="Google Sans Medium" panose="020B0604020202020204" charset="0"/>
              </a:rPr>
              <a:t>color</a:t>
            </a:r>
            <a:r>
              <a:rPr lang="en-IN" sz="1600" dirty="0">
                <a:latin typeface="Google Sans Medium" panose="020B0604020202020204" charset="0"/>
                <a:ea typeface="Google Sans Medium" panose="020B0604020202020204" charset="0"/>
                <a:cs typeface="Google Sans Medium" panose="020B0604020202020204" charset="0"/>
              </a:rPr>
              <a:t> information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Google Sans Medium" panose="020B0604020202020204" charset="0"/>
                <a:ea typeface="Google Sans Medium" panose="020B0604020202020204" charset="0"/>
                <a:cs typeface="Google Sans Medium" panose="020B0604020202020204" charset="0"/>
              </a:rPr>
              <a:t>Satellite-domain optimized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Google Sans Medium" panose="020B0604020202020204" charset="0"/>
                <a:ea typeface="Google Sans Medium" panose="020B0604020202020204" charset="0"/>
                <a:cs typeface="Google Sans Medium" panose="020B0604020202020204" charset="0"/>
              </a:rPr>
              <a:t>Supports multiple Earth observation datasets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Google Sans Medium" panose="020B0604020202020204" charset="0"/>
                <a:ea typeface="Google Sans Medium" panose="020B0604020202020204" charset="0"/>
                <a:cs typeface="Google Sans Medium" panose="020B0604020202020204" charset="0"/>
              </a:rPr>
              <a:t>Faster inference for operational deployment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5E3F42-E8E1-4A4F-7C12-BC17BD5BD14F}"/>
              </a:ext>
            </a:extLst>
          </p:cNvPr>
          <p:cNvSpPr txBox="1"/>
          <p:nvPr/>
        </p:nvSpPr>
        <p:spPr>
          <a:xfrm>
            <a:off x="4771836" y="1239870"/>
            <a:ext cx="410571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>
                    <a:lumMod val="65000"/>
                  </a:schemeClr>
                </a:solidFill>
                <a:latin typeface="Google Sans Medium" panose="020B0604020202020204" charset="0"/>
                <a:ea typeface="Google Sans Medium" panose="020B0604020202020204" charset="0"/>
                <a:cs typeface="Google Sans Medium" panose="020B0604020202020204" charset="0"/>
              </a:rPr>
              <a:t>How will it be able to solve the problem?</a:t>
            </a:r>
          </a:p>
          <a:p>
            <a:r>
              <a:rPr lang="en-IN" b="1" dirty="0"/>
              <a:t>Existing Solutions</a:t>
            </a:r>
          </a:p>
          <a:p>
            <a:r>
              <a:rPr lang="en-IN" sz="1300" dirty="0"/>
              <a:t>Current methods:</a:t>
            </a:r>
          </a:p>
          <a:p>
            <a:r>
              <a:rPr lang="en-IN" sz="1300" dirty="0"/>
              <a:t>Traditional interpolation (Bicubic, Lanczos) </a:t>
            </a:r>
          </a:p>
          <a:p>
            <a:r>
              <a:rPr lang="en-IN" sz="1300" dirty="0"/>
              <a:t>Generic super-resolution models </a:t>
            </a:r>
          </a:p>
          <a:p>
            <a:r>
              <a:rPr lang="en-IN" sz="1300" dirty="0"/>
              <a:t>Separate pipelines for super-resolution and colorization </a:t>
            </a:r>
          </a:p>
          <a:p>
            <a:r>
              <a:rPr lang="en-IN" sz="1300" dirty="0"/>
              <a:t>Limited preservation of remote sensing features 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Our Innovation</a:t>
            </a:r>
          </a:p>
          <a:p>
            <a:r>
              <a:rPr lang="en-IN" sz="1300" dirty="0"/>
              <a:t>We propose a deep learning framework that jointly learns:</a:t>
            </a:r>
          </a:p>
          <a:p>
            <a:r>
              <a:rPr lang="en-IN" sz="1300" dirty="0"/>
              <a:t>Satellite-specific Super Resolution </a:t>
            </a:r>
          </a:p>
          <a:p>
            <a:r>
              <a:rPr lang="en-IN" sz="1300" dirty="0"/>
              <a:t>Automatic Image Colorization </a:t>
            </a:r>
          </a:p>
          <a:p>
            <a:r>
              <a:rPr lang="en-IN" sz="1300" dirty="0"/>
              <a:t>Perceptual texture preservation </a:t>
            </a:r>
          </a:p>
          <a:p>
            <a:r>
              <a:rPr lang="en-IN" sz="1300" dirty="0"/>
              <a:t>Edge-aware reconstruction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6" title="wswswsw33d3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6"/>
          <p:cNvSpPr txBox="1"/>
          <p:nvPr/>
        </p:nvSpPr>
        <p:spPr>
          <a:xfrm>
            <a:off x="311700" y="863550"/>
            <a:ext cx="4260300" cy="4025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IN" sz="1600" b="1" dirty="0">
                <a:latin typeface="Google Sans Medium" panose="020B0604020202020204" charset="0"/>
                <a:ea typeface="Google Sans Medium" panose="020B0604020202020204" charset="0"/>
                <a:cs typeface="Google Sans Medium" panose="020B0604020202020204" charset="0"/>
              </a:rPr>
              <a:t>Key Features :</a:t>
            </a:r>
          </a:p>
          <a:p>
            <a:endParaRPr lang="en-IN" sz="1600" b="1" dirty="0">
              <a:latin typeface="Google Sans Medium" panose="020B0604020202020204" charset="0"/>
              <a:ea typeface="Google Sans Medium" panose="020B0604020202020204" charset="0"/>
              <a:cs typeface="Google Sans Medium" panose="020B0604020202020204" charset="0"/>
            </a:endParaRPr>
          </a:p>
          <a:p>
            <a:r>
              <a:rPr lang="en-IN" sz="1600" dirty="0">
                <a:latin typeface="Google Sans Medium" panose="020B0604020202020204" charset="0"/>
                <a:ea typeface="Google Sans Medium" panose="020B0604020202020204" charset="0"/>
                <a:cs typeface="Google Sans Medium" panose="020B0604020202020204" charset="0"/>
              </a:rPr>
              <a:t>4× Super Resolution </a:t>
            </a:r>
          </a:p>
          <a:p>
            <a:r>
              <a:rPr lang="en-IN" sz="1600" dirty="0">
                <a:latin typeface="Google Sans Medium" panose="020B0604020202020204" charset="0"/>
                <a:ea typeface="Google Sans Medium" panose="020B0604020202020204" charset="0"/>
                <a:cs typeface="Google Sans Medium" panose="020B0604020202020204" charset="0"/>
              </a:rPr>
              <a:t>Automatic grayscale-to-RGB colorization </a:t>
            </a:r>
          </a:p>
          <a:p>
            <a:r>
              <a:rPr lang="en-IN" sz="1600" dirty="0">
                <a:latin typeface="Google Sans Medium" panose="020B0604020202020204" charset="0"/>
                <a:ea typeface="Google Sans Medium" panose="020B0604020202020204" charset="0"/>
                <a:cs typeface="Google Sans Medium" panose="020B0604020202020204" charset="0"/>
              </a:rPr>
              <a:t>Edge-preserving reconstruction </a:t>
            </a:r>
          </a:p>
          <a:p>
            <a:r>
              <a:rPr lang="en-IN" sz="1600" dirty="0">
                <a:latin typeface="Google Sans Medium" panose="020B0604020202020204" charset="0"/>
                <a:ea typeface="Google Sans Medium" panose="020B0604020202020204" charset="0"/>
                <a:cs typeface="Google Sans Medium" panose="020B0604020202020204" charset="0"/>
              </a:rPr>
              <a:t>Cloud-compatible inference </a:t>
            </a:r>
          </a:p>
          <a:p>
            <a:r>
              <a:rPr lang="en-IN" sz="1600" dirty="0">
                <a:latin typeface="Google Sans Medium" panose="020B0604020202020204" charset="0"/>
                <a:ea typeface="Google Sans Medium" panose="020B0604020202020204" charset="0"/>
                <a:cs typeface="Google Sans Medium" panose="020B0604020202020204" charset="0"/>
              </a:rPr>
              <a:t>Supports multiple satellite datasets </a:t>
            </a:r>
          </a:p>
          <a:p>
            <a:r>
              <a:rPr lang="en-IN" sz="1600" dirty="0">
                <a:latin typeface="Google Sans Medium" panose="020B0604020202020204" charset="0"/>
                <a:ea typeface="Google Sans Medium" panose="020B0604020202020204" charset="0"/>
                <a:cs typeface="Google Sans Medium" panose="020B0604020202020204" charset="0"/>
              </a:rPr>
              <a:t>Batch image processing </a:t>
            </a:r>
          </a:p>
          <a:p>
            <a:r>
              <a:rPr lang="en-IN" sz="1600" dirty="0">
                <a:latin typeface="Google Sans Medium" panose="020B0604020202020204" charset="0"/>
                <a:ea typeface="Google Sans Medium" panose="020B0604020202020204" charset="0"/>
                <a:cs typeface="Google Sans Medium" panose="020B0604020202020204" charset="0"/>
              </a:rPr>
              <a:t>High PSNR and SSIM performance </a:t>
            </a:r>
          </a:p>
          <a:p>
            <a:r>
              <a:rPr lang="en-IN" sz="1600" dirty="0">
                <a:latin typeface="Google Sans Medium" panose="020B0604020202020204" charset="0"/>
                <a:ea typeface="Google Sans Medium" panose="020B0604020202020204" charset="0"/>
                <a:cs typeface="Google Sans Medium" panose="020B0604020202020204" charset="0"/>
              </a:rPr>
              <a:t>Ready for GIS visualization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7993E6-9E9D-A531-44E7-5189604598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0832" y="1097838"/>
            <a:ext cx="4773168" cy="318211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7" title="wswswsw33d3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7"/>
          <p:cNvSpPr txBox="1"/>
          <p:nvPr/>
        </p:nvSpPr>
        <p:spPr>
          <a:xfrm>
            <a:off x="311700" y="863550"/>
            <a:ext cx="4565100" cy="371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0" i="0" u="none" strike="noStrike" cap="none" dirty="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Process flow diagram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46C4239-F3B0-0626-011C-8AA61B1B94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3610" y="588606"/>
            <a:ext cx="3814086" cy="4434497"/>
          </a:xfrm>
          <a:prstGeom prst="rect">
            <a:avLst/>
          </a:prstGeom>
        </p:spPr>
      </p:pic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9F327AED-1246-72C4-1ED0-8CD5FC52058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65690655"/>
              </p:ext>
            </p:extLst>
          </p:nvPr>
        </p:nvGraphicFramePr>
        <p:xfrm>
          <a:off x="311700" y="1235348"/>
          <a:ext cx="4565100" cy="37181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9" title="wswswsw33d3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72DC92A-1225-D208-83ED-255D0B1428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85216"/>
            <a:ext cx="9144000" cy="44500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0" title="wswswsw33d3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0"/>
          <p:cNvSpPr txBox="1"/>
          <p:nvPr/>
        </p:nvSpPr>
        <p:spPr>
          <a:xfrm>
            <a:off x="311700" y="863550"/>
            <a:ext cx="7569300" cy="453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0" i="0" u="none" strike="noStrike" cap="none" dirty="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Technologies to be used in the solution:</a:t>
            </a:r>
            <a:endParaRPr sz="1600" b="0" i="0" u="none" strike="noStrike" cap="none" dirty="0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3FCDB46-35DD-5459-ADC6-376A71E52F95}"/>
              </a:ext>
            </a:extLst>
          </p:cNvPr>
          <p:cNvSpPr txBox="1"/>
          <p:nvPr/>
        </p:nvSpPr>
        <p:spPr>
          <a:xfrm>
            <a:off x="436005" y="1316736"/>
            <a:ext cx="3009648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Programming</a:t>
            </a:r>
          </a:p>
          <a:p>
            <a:r>
              <a:rPr lang="en-IN" dirty="0"/>
              <a:t>Python 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Deep Learning</a:t>
            </a:r>
          </a:p>
          <a:p>
            <a:r>
              <a:rPr lang="en-IN" dirty="0" err="1"/>
              <a:t>PyTorch</a:t>
            </a:r>
            <a:r>
              <a:rPr lang="en-IN" dirty="0"/>
              <a:t> </a:t>
            </a:r>
          </a:p>
          <a:p>
            <a:r>
              <a:rPr lang="en-IN" dirty="0"/>
              <a:t>TensorFlow </a:t>
            </a:r>
          </a:p>
          <a:p>
            <a:r>
              <a:rPr lang="en-IN" dirty="0"/>
              <a:t>OpenCV</a:t>
            </a:r>
          </a:p>
          <a:p>
            <a:endParaRPr lang="en-IN" dirty="0"/>
          </a:p>
          <a:p>
            <a:r>
              <a:rPr lang="en-IN" b="1" dirty="0"/>
              <a:t>Models</a:t>
            </a:r>
          </a:p>
          <a:p>
            <a:r>
              <a:rPr lang="en-IN" dirty="0"/>
              <a:t>CNN </a:t>
            </a:r>
          </a:p>
          <a:p>
            <a:r>
              <a:rPr lang="en-IN" dirty="0"/>
              <a:t>Residual Networks </a:t>
            </a:r>
          </a:p>
          <a:p>
            <a:r>
              <a:rPr lang="en-IN" dirty="0"/>
              <a:t>Attention Mechanisms </a:t>
            </a:r>
          </a:p>
          <a:p>
            <a:r>
              <a:rPr lang="en-IN" dirty="0"/>
              <a:t>GAN (optional) </a:t>
            </a:r>
          </a:p>
          <a:p>
            <a:r>
              <a:rPr lang="en-IN" dirty="0"/>
              <a:t>Vision Transformers (future scope)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8A0EE3-7B43-D2C2-8031-B9744934D29A}"/>
              </a:ext>
            </a:extLst>
          </p:cNvPr>
          <p:cNvSpPr txBox="1"/>
          <p:nvPr/>
        </p:nvSpPr>
        <p:spPr>
          <a:xfrm>
            <a:off x="4258421" y="1248916"/>
            <a:ext cx="300964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Image Processing</a:t>
            </a:r>
          </a:p>
          <a:p>
            <a:r>
              <a:rPr lang="en-IN" dirty="0"/>
              <a:t>NumPy </a:t>
            </a:r>
          </a:p>
          <a:p>
            <a:r>
              <a:rPr lang="en-IN" dirty="0"/>
              <a:t>Pillow </a:t>
            </a:r>
          </a:p>
          <a:p>
            <a:r>
              <a:rPr lang="en-IN" dirty="0"/>
              <a:t>Scikit-image 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Evaluation Metrics</a:t>
            </a:r>
          </a:p>
          <a:p>
            <a:r>
              <a:rPr lang="en-IN" dirty="0"/>
              <a:t>PSNR </a:t>
            </a:r>
          </a:p>
          <a:p>
            <a:r>
              <a:rPr lang="en-IN" dirty="0"/>
              <a:t>SSIM </a:t>
            </a:r>
          </a:p>
          <a:p>
            <a:r>
              <a:rPr lang="en-IN" dirty="0"/>
              <a:t>LPIPS </a:t>
            </a:r>
          </a:p>
          <a:p>
            <a:r>
              <a:rPr lang="en-IN" dirty="0"/>
              <a:t>FID </a:t>
            </a:r>
          </a:p>
          <a:p>
            <a:r>
              <a:rPr lang="en-IN" dirty="0"/>
              <a:t>MSE</a:t>
            </a:r>
          </a:p>
          <a:p>
            <a:endParaRPr lang="en-IN" dirty="0"/>
          </a:p>
          <a:p>
            <a:r>
              <a:rPr lang="en-IN" b="1" dirty="0"/>
              <a:t>Deployment</a:t>
            </a:r>
          </a:p>
          <a:p>
            <a:r>
              <a:rPr lang="en-IN" dirty="0" err="1"/>
              <a:t>Streamlit</a:t>
            </a:r>
            <a:r>
              <a:rPr lang="en-IN" dirty="0"/>
              <a:t> </a:t>
            </a:r>
          </a:p>
          <a:p>
            <a:r>
              <a:rPr lang="en-IN" dirty="0"/>
              <a:t>Docker</a:t>
            </a:r>
          </a:p>
          <a:p>
            <a:endParaRPr lang="en-IN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21" title="wswswsw33d3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21"/>
          <p:cNvSpPr txBox="1"/>
          <p:nvPr/>
        </p:nvSpPr>
        <p:spPr>
          <a:xfrm>
            <a:off x="311700" y="863550"/>
            <a:ext cx="7569300" cy="257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0" i="0" u="none" strike="noStrike" cap="none" dirty="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Estimated implementation cost (optional):</a:t>
            </a:r>
            <a:endParaRPr sz="1600" b="0" i="0" u="none" strike="noStrike" cap="none" dirty="0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000B36A-75A0-2865-FEC9-917E07C4A87C}"/>
              </a:ext>
            </a:extLst>
          </p:cNvPr>
          <p:cNvGraphicFramePr>
            <a:graphicFrameLocks noGrp="1"/>
          </p:cNvGraphicFramePr>
          <p:nvPr/>
        </p:nvGraphicFramePr>
        <p:xfrm>
          <a:off x="311150" y="1946275"/>
          <a:ext cx="8521700" cy="1828800"/>
        </p:xfrm>
        <a:graphic>
          <a:graphicData uri="http://schemas.openxmlformats.org/drawingml/2006/table">
            <a:tbl>
              <a:tblPr/>
              <a:tblGrid>
                <a:gridCol w="4260850">
                  <a:extLst>
                    <a:ext uri="{9D8B030D-6E8A-4147-A177-3AD203B41FA5}">
                      <a16:colId xmlns:a16="http://schemas.microsoft.com/office/drawing/2014/main" val="3867255208"/>
                    </a:ext>
                  </a:extLst>
                </a:gridCol>
                <a:gridCol w="4260850">
                  <a:extLst>
                    <a:ext uri="{9D8B030D-6E8A-4147-A177-3AD203B41FA5}">
                      <a16:colId xmlns:a16="http://schemas.microsoft.com/office/drawing/2014/main" val="22541991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Component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Estimated Cost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12038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Satellite Dataset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Free (ISRO/Open datasets)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47454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Software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Open Source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88262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GPU Training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₹20,000–₹40,000 (Cloud, if needed)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7202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Deployment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₹5,000–₹10,000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01935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Total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&lt; ₹50,000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8285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2" title="wswswswdwdww33d3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443</Words>
  <Application>Microsoft Office PowerPoint</Application>
  <PresentationFormat>On-screen Show (16:9)</PresentationFormat>
  <Paragraphs>116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Google Sans</vt:lpstr>
      <vt:lpstr>Arial</vt:lpstr>
      <vt:lpstr>Google Sans Medium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vegeta</dc:creator>
  <cp:lastModifiedBy>parth tripahi</cp:lastModifiedBy>
  <cp:revision>1</cp:revision>
  <dcterms:modified xsi:type="dcterms:W3CDTF">2026-07-01T14:58:53Z</dcterms:modified>
</cp:coreProperties>
</file>